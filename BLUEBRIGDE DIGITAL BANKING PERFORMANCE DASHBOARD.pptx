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4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D7D31"/>
    <a:srgbClr val="EA8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Banking%20transaction%20(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Banking%20transaction%20(Recovered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Banking%20transaction%20(Recover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USER\Documents\Banking%20transaction%20(Recovered)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USER\Documents\Banking%20transaction%20(Recovered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USER\Documents\Banking%20transaction%20(Recovered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USER\Documents\Banking%20transaction%20(Recovered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USER\Documents\Banking%20transaction%20(Recovered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[Banking transaction (Recovered).xlsx]Pivot Table!PivotTable10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b="1" i="0" u="none" strike="noStrike" kern="1200" spc="0" baseline="0">
                <a:solidFill>
                  <a:sysClr val="windowText" lastClr="000000"/>
                </a:solidFill>
              </a:rPr>
              <a:t>Transaction Status by Fraud Flag</a:t>
            </a:r>
          </a:p>
        </c:rich>
      </c:tx>
      <c:layout>
        <c:manualLayout>
          <c:xMode val="edge"/>
          <c:yMode val="edge"/>
          <c:x val="0.142379270746367"/>
          <c:y val="3.82485957946622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General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General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General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'Pivot Table'!$AR$6:$AR$7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3465750506058157E-3"/>
                  <c:y val="-5.09275633607068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751-40CF-B046-6E67AD278FAD}"/>
                </c:ext>
              </c:extLst>
            </c:dLbl>
            <c:dLbl>
              <c:idx val="1"/>
              <c:layout>
                <c:manualLayout>
                  <c:x val="-4.6732875253029079E-3"/>
                  <c:y val="-1.018551267214127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751-40CF-B046-6E67AD278F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Table'!$AQ$8:$AQ$10</c:f>
              <c:strCache>
                <c:ptCount val="2"/>
                <c:pt idx="0">
                  <c:v>TRUE</c:v>
                </c:pt>
                <c:pt idx="1">
                  <c:v>FALSE</c:v>
                </c:pt>
              </c:strCache>
            </c:strRef>
          </c:cat>
          <c:val>
            <c:numRef>
              <c:f>'Pivot Table'!$AR$8:$AR$10</c:f>
              <c:numCache>
                <c:formatCode>General</c:formatCode>
                <c:ptCount val="2"/>
                <c:pt idx="0">
                  <c:v>397</c:v>
                </c:pt>
                <c:pt idx="1">
                  <c:v>7572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51-40CF-B046-6E67AD278FAD}"/>
            </c:ext>
          </c:extLst>
        </c:ser>
        <c:ser>
          <c:idx val="1"/>
          <c:order val="1"/>
          <c:tx>
            <c:strRef>
              <c:f>'Pivot Table'!$AS$6:$AS$7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Table'!$AQ$8:$AQ$10</c:f>
              <c:strCache>
                <c:ptCount val="2"/>
                <c:pt idx="0">
                  <c:v>TRUE</c:v>
                </c:pt>
                <c:pt idx="1">
                  <c:v>FALSE</c:v>
                </c:pt>
              </c:strCache>
            </c:strRef>
          </c:cat>
          <c:val>
            <c:numRef>
              <c:f>'Pivot Table'!$AS$8:$AS$10</c:f>
              <c:numCache>
                <c:formatCode>General</c:formatCode>
                <c:ptCount val="2"/>
                <c:pt idx="0">
                  <c:v>1644</c:v>
                </c:pt>
                <c:pt idx="1">
                  <c:v>30387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51-40CF-B046-6E67AD278FA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576986168"/>
        <c:axId val="576987968"/>
      </c:barChart>
      <c:catAx>
        <c:axId val="576986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576987968"/>
        <c:crosses val="autoZero"/>
        <c:auto val="1"/>
        <c:lblAlgn val="ctr"/>
        <c:lblOffset val="100"/>
        <c:noMultiLvlLbl val="0"/>
      </c:catAx>
      <c:valAx>
        <c:axId val="5769879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576986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[Banking transaction (Recovered).xlsx]Pivot Table!PivotTable19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kern="1200" spc="0" baseline="0">
                <a:solidFill>
                  <a:sysClr val="windowText" lastClr="000000"/>
                </a:solidFill>
              </a:rPr>
              <a:t>Daily Trend of </a:t>
            </a:r>
            <a:r>
              <a:rPr lang="en-US" sz="1200" b="1">
                <a:solidFill>
                  <a:sysClr val="windowText" lastClr="000000"/>
                </a:solidFill>
              </a:rPr>
              <a:t>Failure</a:t>
            </a:r>
            <a:r>
              <a:rPr lang="en-US" sz="1200" b="1" baseline="0">
                <a:solidFill>
                  <a:sysClr val="windowText" lastClr="000000"/>
                </a:solidFill>
              </a:rPr>
              <a:t> Rate </a:t>
            </a:r>
            <a:endParaRPr lang="en-US" sz="12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1"/>
          <c:order val="1"/>
          <c:tx>
            <c:strRef>
              <c:f>'Pivot Table'!$E$19</c:f>
              <c:strCache>
                <c:ptCount val="1"/>
                <c:pt idx="0">
                  <c:v>Count of Transaction ID</c:v>
                </c:pt>
              </c:strCache>
            </c:strRef>
          </c:tx>
          <c:spPr>
            <a:ln w="28575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cat>
            <c:strRef>
              <c:f>'Pivot Table'!$C$20:$C$27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'Pivot Table'!$E$20:$E$27</c:f>
              <c:numCache>
                <c:formatCode>General</c:formatCode>
                <c:ptCount val="7"/>
                <c:pt idx="0">
                  <c:v>5800</c:v>
                </c:pt>
                <c:pt idx="1">
                  <c:v>5611</c:v>
                </c:pt>
                <c:pt idx="2">
                  <c:v>5701</c:v>
                </c:pt>
                <c:pt idx="3">
                  <c:v>5868</c:v>
                </c:pt>
                <c:pt idx="4">
                  <c:v>5746</c:v>
                </c:pt>
                <c:pt idx="5">
                  <c:v>5666</c:v>
                </c:pt>
                <c:pt idx="6">
                  <c:v>5608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F7-4DC9-BACE-8339824A7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909608"/>
        <c:axId val="1111905288"/>
      </c:lineChart>
      <c:lineChart>
        <c:grouping val="standard"/>
        <c:varyColors val="0"/>
        <c:ser>
          <c:idx val="0"/>
          <c:order val="0"/>
          <c:tx>
            <c:strRef>
              <c:f>'Pivot Table'!$D$19</c:f>
              <c:strCache>
                <c:ptCount val="1"/>
                <c:pt idx="0">
                  <c:v>Average of Failure 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'Pivot Table'!$C$20:$C$27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'Pivot Table'!$D$20:$D$27</c:f>
              <c:numCache>
                <c:formatCode>0.0%</c:formatCode>
                <c:ptCount val="7"/>
                <c:pt idx="0">
                  <c:v>0.20499999999999999</c:v>
                </c:pt>
                <c:pt idx="1">
                  <c:v>0.20085546248440564</c:v>
                </c:pt>
                <c:pt idx="2">
                  <c:v>0.19136993509910541</c:v>
                </c:pt>
                <c:pt idx="3">
                  <c:v>0.20006816632583505</c:v>
                </c:pt>
                <c:pt idx="4">
                  <c:v>0.20013922728854855</c:v>
                </c:pt>
                <c:pt idx="5">
                  <c:v>0.20137663254500529</c:v>
                </c:pt>
                <c:pt idx="6">
                  <c:v>0.19561340941512126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F7-4DC9-BACE-8339824A7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2154032"/>
        <c:axId val="992161952"/>
      </c:lineChart>
      <c:catAx>
        <c:axId val="1111909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111905288"/>
        <c:crosses val="autoZero"/>
        <c:auto val="1"/>
        <c:lblAlgn val="ctr"/>
        <c:lblOffset val="100"/>
        <c:noMultiLvlLbl val="0"/>
      </c:catAx>
      <c:valAx>
        <c:axId val="11119052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111909608"/>
        <c:crosses val="autoZero"/>
        <c:crossBetween val="between"/>
      </c:valAx>
      <c:valAx>
        <c:axId val="992161952"/>
        <c:scaling>
          <c:orientation val="minMax"/>
          <c:min val="0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992154032"/>
        <c:crosses val="max"/>
        <c:crossBetween val="between"/>
      </c:valAx>
      <c:catAx>
        <c:axId val="9921540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921619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[Banking transaction (Recovered).xlsx]Pivot Table!PivotTable6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GB" b="1">
                <a:solidFill>
                  <a:sysClr val="windowText" lastClr="000000"/>
                </a:solidFill>
              </a:rPr>
              <a:t>Transaction</a:t>
            </a:r>
            <a:r>
              <a:rPr lang="en-GB" b="1" baseline="0">
                <a:solidFill>
                  <a:sysClr val="windowText" lastClr="000000"/>
                </a:solidFill>
              </a:rPr>
              <a:t> Status</a:t>
            </a:r>
            <a:r>
              <a:rPr lang="en-GB" b="1">
                <a:solidFill>
                  <a:sysClr val="windowText" lastClr="000000"/>
                </a:solidFill>
              </a:rPr>
              <a:t> by Time</a:t>
            </a:r>
          </a:p>
        </c:rich>
      </c:tx>
      <c:layout>
        <c:manualLayout>
          <c:xMode val="edge"/>
          <c:yMode val="edge"/>
          <c:x val="0.20857307470712508"/>
          <c:y val="3.70440158746733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Table'!$R$5:$R$6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Table'!$Q$7:$Q$11</c:f>
              <c:strCache>
                <c:ptCount val="4"/>
                <c:pt idx="0">
                  <c:v>Afternoon</c:v>
                </c:pt>
                <c:pt idx="1">
                  <c:v>Early Morning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'Pivot Table'!$R$7:$R$11</c:f>
              <c:numCache>
                <c:formatCode>General</c:formatCode>
                <c:ptCount val="4"/>
                <c:pt idx="0">
                  <c:v>7908</c:v>
                </c:pt>
                <c:pt idx="1">
                  <c:v>8023</c:v>
                </c:pt>
                <c:pt idx="2">
                  <c:v>7984</c:v>
                </c:pt>
                <c:pt idx="3">
                  <c:v>8116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D-4BD1-B842-4207AC14241D}"/>
            </c:ext>
          </c:extLst>
        </c:ser>
        <c:ser>
          <c:idx val="1"/>
          <c:order val="1"/>
          <c:tx>
            <c:strRef>
              <c:f>'Pivot Table'!$S$5:$S$6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4611843168249008E-2"/>
                  <c:y val="-5.110949868020786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15D-4BD1-B842-4207AC14241D}"/>
                </c:ext>
              </c:extLst>
            </c:dLbl>
            <c:dLbl>
              <c:idx val="1"/>
              <c:layout>
                <c:manualLayout>
                  <c:x val="5.4390039264391267E-2"/>
                  <c:y val="-9.369966515385352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15D-4BD1-B842-4207AC14241D}"/>
                </c:ext>
              </c:extLst>
            </c:dLbl>
            <c:dLbl>
              <c:idx val="2"/>
              <c:layout>
                <c:manualLayout>
                  <c:x val="4.9445490240355605E-2"/>
                  <c:y val="-5.110949868020786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15D-4BD1-B842-4207AC14241D}"/>
                </c:ext>
              </c:extLst>
            </c:dLbl>
            <c:dLbl>
              <c:idx val="3"/>
              <c:layout>
                <c:manualLayout>
                  <c:x val="3.4611843168248987E-2"/>
                  <c:y val="-9.369966515385352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15D-4BD1-B842-4207AC1424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Table'!$Q$7:$Q$11</c:f>
              <c:strCache>
                <c:ptCount val="4"/>
                <c:pt idx="0">
                  <c:v>Afternoon</c:v>
                </c:pt>
                <c:pt idx="1">
                  <c:v>Early Morning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'Pivot Table'!$S$7:$S$11</c:f>
              <c:numCache>
                <c:formatCode>General</c:formatCode>
                <c:ptCount val="4"/>
                <c:pt idx="0">
                  <c:v>1982</c:v>
                </c:pt>
                <c:pt idx="1">
                  <c:v>1999</c:v>
                </c:pt>
                <c:pt idx="2">
                  <c:v>1984</c:v>
                </c:pt>
                <c:pt idx="3">
                  <c:v>2004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5D-4BD1-B842-4207AC1424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14259352"/>
        <c:axId val="1414259712"/>
      </c:barChart>
      <c:catAx>
        <c:axId val="14142593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414259712"/>
        <c:crosses val="autoZero"/>
        <c:auto val="1"/>
        <c:lblAlgn val="ctr"/>
        <c:lblOffset val="100"/>
        <c:noMultiLvlLbl val="0"/>
      </c:catAx>
      <c:valAx>
        <c:axId val="141425971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414259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106356827347798"/>
          <c:y val="0.87497557136748427"/>
          <c:w val="0.40714115613597079"/>
          <c:h val="0.125024428632515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[Banking transaction (Recovered).xlsx]Pivot Table!PivotTable26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b="1">
                <a:solidFill>
                  <a:sysClr val="windowText" lastClr="000000"/>
                </a:solidFill>
              </a:rPr>
              <a:t>Transaction Status by Latency</a:t>
            </a:r>
          </a:p>
        </c:rich>
      </c:tx>
      <c:layout>
        <c:manualLayout>
          <c:xMode val="edge"/>
          <c:yMode val="edge"/>
          <c:x val="0.17186717826586667"/>
          <c:y val="3.74115810150272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'Pivot Table'!$BL$5:$BL$6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Table'!$BK$7:$BK$10</c:f>
              <c:strCache>
                <c:ptCount val="3"/>
                <c:pt idx="0">
                  <c:v>Moderate Latency</c:v>
                </c:pt>
                <c:pt idx="1">
                  <c:v>Low Latency</c:v>
                </c:pt>
                <c:pt idx="2">
                  <c:v>High Latency</c:v>
                </c:pt>
              </c:strCache>
            </c:strRef>
          </c:cat>
          <c:val>
            <c:numRef>
              <c:f>'Pivot Table'!$BL$7:$BL$10</c:f>
              <c:numCache>
                <c:formatCode>General</c:formatCode>
                <c:ptCount val="3"/>
                <c:pt idx="0">
                  <c:v>3220</c:v>
                </c:pt>
                <c:pt idx="1">
                  <c:v>3137</c:v>
                </c:pt>
                <c:pt idx="2">
                  <c:v>1612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DC-43C8-B459-F3AB745B2DC1}"/>
            </c:ext>
          </c:extLst>
        </c:ser>
        <c:ser>
          <c:idx val="1"/>
          <c:order val="1"/>
          <c:tx>
            <c:strRef>
              <c:f>'Pivot Table'!$BM$5:$BM$6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Table'!$BK$7:$BK$10</c:f>
              <c:strCache>
                <c:ptCount val="3"/>
                <c:pt idx="0">
                  <c:v>Moderate Latency</c:v>
                </c:pt>
                <c:pt idx="1">
                  <c:v>Low Latency</c:v>
                </c:pt>
                <c:pt idx="2">
                  <c:v>High Latency</c:v>
                </c:pt>
              </c:strCache>
            </c:strRef>
          </c:cat>
          <c:val>
            <c:numRef>
              <c:f>'Pivot Table'!$BM$7:$BM$10</c:f>
              <c:numCache>
                <c:formatCode>General</c:formatCode>
                <c:ptCount val="3"/>
                <c:pt idx="0">
                  <c:v>13148</c:v>
                </c:pt>
                <c:pt idx="1">
                  <c:v>12493</c:v>
                </c:pt>
                <c:pt idx="2">
                  <c:v>6390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DC-43C8-B459-F3AB745B2D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013702904"/>
        <c:axId val="1013702184"/>
      </c:barChart>
      <c:catAx>
        <c:axId val="10137029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013702184"/>
        <c:crosses val="autoZero"/>
        <c:auto val="1"/>
        <c:lblAlgn val="ctr"/>
        <c:lblOffset val="100"/>
        <c:noMultiLvlLbl val="0"/>
      </c:catAx>
      <c:valAx>
        <c:axId val="1013702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013702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[Banking transaction (Recovered).xlsx]Pivot Table!PivotTable28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GB" sz="1200" b="1" i="0" u="none" strike="noStrike" kern="1200" spc="0" baseline="0">
                <a:solidFill>
                  <a:sysClr val="windowText" lastClr="000000"/>
                </a:solidFill>
              </a:rPr>
              <a:t>Transaction Status by Bandwidth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'Pivot Table'!$BL$31:$BL$32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Table'!$BK$33:$BK$36</c:f>
              <c:strCache>
                <c:ptCount val="3"/>
                <c:pt idx="0">
                  <c:v>Low Bandwidth</c:v>
                </c:pt>
                <c:pt idx="1">
                  <c:v>Moderate Bandwidth</c:v>
                </c:pt>
                <c:pt idx="2">
                  <c:v>High Bandwidth</c:v>
                </c:pt>
              </c:strCache>
            </c:strRef>
          </c:cat>
          <c:val>
            <c:numRef>
              <c:f>'Pivot Table'!$BL$33:$BL$36</c:f>
              <c:numCache>
                <c:formatCode>General</c:formatCode>
                <c:ptCount val="3"/>
                <c:pt idx="0">
                  <c:v>2533</c:v>
                </c:pt>
                <c:pt idx="1">
                  <c:v>2760</c:v>
                </c:pt>
                <c:pt idx="2">
                  <c:v>2676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3D-43A2-9F80-8DAD08147FDF}"/>
            </c:ext>
          </c:extLst>
        </c:ser>
        <c:ser>
          <c:idx val="1"/>
          <c:order val="1"/>
          <c:tx>
            <c:strRef>
              <c:f>'Pivot Table'!$BM$31:$BM$32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Table'!$BK$33:$BK$36</c:f>
              <c:strCache>
                <c:ptCount val="3"/>
                <c:pt idx="0">
                  <c:v>Low Bandwidth</c:v>
                </c:pt>
                <c:pt idx="1">
                  <c:v>Moderate Bandwidth</c:v>
                </c:pt>
                <c:pt idx="2">
                  <c:v>High Bandwidth</c:v>
                </c:pt>
              </c:strCache>
            </c:strRef>
          </c:cat>
          <c:val>
            <c:numRef>
              <c:f>'Pivot Table'!$BM$33:$BM$36</c:f>
              <c:numCache>
                <c:formatCode>General</c:formatCode>
                <c:ptCount val="3"/>
                <c:pt idx="0">
                  <c:v>10329</c:v>
                </c:pt>
                <c:pt idx="1">
                  <c:v>10725</c:v>
                </c:pt>
                <c:pt idx="2">
                  <c:v>10977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3D-43A2-9F80-8DAD08147F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432426424"/>
        <c:axId val="1432435784"/>
      </c:barChart>
      <c:catAx>
        <c:axId val="1432426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432435784"/>
        <c:crosses val="autoZero"/>
        <c:auto val="1"/>
        <c:lblAlgn val="ctr"/>
        <c:lblOffset val="100"/>
        <c:noMultiLvlLbl val="0"/>
      </c:catAx>
      <c:valAx>
        <c:axId val="1432435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432426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[Banking transaction (Recovered).xlsx]Pivot Table!PivotTable7</c:name>
    <c:fmtId val="4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ysClr val="windowText" lastClr="000000"/>
                </a:solidFill>
              </a:rPr>
              <a:t>Network Slice by Avg</a:t>
            </a:r>
            <a:r>
              <a:rPr lang="en-US" b="1" baseline="0">
                <a:solidFill>
                  <a:sysClr val="windowText" lastClr="000000"/>
                </a:solidFill>
              </a:rPr>
              <a:t> Latency</a:t>
            </a:r>
            <a:endParaRPr lang="en-US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Table'!$W$5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Table'!$V$6:$V$9</c:f>
              <c:strCache>
                <c:ptCount val="3"/>
                <c:pt idx="0">
                  <c:v>Slice1</c:v>
                </c:pt>
                <c:pt idx="1">
                  <c:v>Slice2</c:v>
                </c:pt>
                <c:pt idx="2">
                  <c:v>Slice3</c:v>
                </c:pt>
              </c:strCache>
            </c:strRef>
          </c:cat>
          <c:val>
            <c:numRef>
              <c:f>'Pivot Table'!$W$6:$W$9</c:f>
              <c:numCache>
                <c:formatCode>0.00</c:formatCode>
                <c:ptCount val="3"/>
                <c:pt idx="0">
                  <c:v>76.351926825611031</c:v>
                </c:pt>
                <c:pt idx="1">
                  <c:v>77.259914855478371</c:v>
                </c:pt>
                <c:pt idx="2">
                  <c:v>76.625555639267688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87-424E-9AA3-D61E6EBF98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2743792"/>
        <c:axId val="1262746312"/>
      </c:barChart>
      <c:catAx>
        <c:axId val="1262743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262746312"/>
        <c:crosses val="autoZero"/>
        <c:auto val="1"/>
        <c:lblAlgn val="ctr"/>
        <c:lblOffset val="100"/>
        <c:noMultiLvlLbl val="0"/>
      </c:catAx>
      <c:valAx>
        <c:axId val="1262746312"/>
        <c:scaling>
          <c:orientation val="minMax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out"/>
        <c:minorTickMark val="none"/>
        <c:tickLblPos val="nextTo"/>
        <c:crossAx val="1262743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[Banking transaction (Recovered).xlsx]Pivot Table!PivotTable21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GB" sz="1200" b="1">
                <a:solidFill>
                  <a:sysClr val="windowText" lastClr="000000"/>
                </a:solidFill>
              </a:rPr>
              <a:t>Device Type by Transaction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'Pivot Table'!$BQ$24:$BQ$25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Table'!$BP$26:$BP$28</c:f>
              <c:strCache>
                <c:ptCount val="2"/>
                <c:pt idx="0">
                  <c:v>Desktop</c:v>
                </c:pt>
                <c:pt idx="1">
                  <c:v>Mobile</c:v>
                </c:pt>
              </c:strCache>
            </c:strRef>
          </c:cat>
          <c:val>
            <c:numRef>
              <c:f>'Pivot Table'!$BQ$26:$BQ$28</c:f>
              <c:numCache>
                <c:formatCode>General</c:formatCode>
                <c:ptCount val="2"/>
                <c:pt idx="0">
                  <c:v>3990</c:v>
                </c:pt>
                <c:pt idx="1">
                  <c:v>3979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BB-4938-8BF0-3C3BA0A80FF5}"/>
            </c:ext>
          </c:extLst>
        </c:ser>
        <c:ser>
          <c:idx val="1"/>
          <c:order val="1"/>
          <c:tx>
            <c:strRef>
              <c:f>'Pivot Table'!$BR$24:$BR$25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Table'!$BP$26:$BP$28</c:f>
              <c:strCache>
                <c:ptCount val="2"/>
                <c:pt idx="0">
                  <c:v>Desktop</c:v>
                </c:pt>
                <c:pt idx="1">
                  <c:v>Mobile</c:v>
                </c:pt>
              </c:strCache>
            </c:strRef>
          </c:cat>
          <c:val>
            <c:numRef>
              <c:f>'Pivot Table'!$BR$26:$BR$28</c:f>
              <c:numCache>
                <c:formatCode>General</c:formatCode>
                <c:ptCount val="2"/>
                <c:pt idx="0">
                  <c:v>15985</c:v>
                </c:pt>
                <c:pt idx="1">
                  <c:v>16046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BB-4938-8BF0-3C3BA0A80FF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1850741112"/>
        <c:axId val="1850741472"/>
      </c:barChart>
      <c:catAx>
        <c:axId val="1850741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850741472"/>
        <c:crosses val="autoZero"/>
        <c:auto val="1"/>
        <c:lblAlgn val="ctr"/>
        <c:lblOffset val="100"/>
        <c:noMultiLvlLbl val="0"/>
      </c:catAx>
      <c:valAx>
        <c:axId val="185074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850741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[Banking transaction (Recovered).xlsx]Pivot Table!PivotTable25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GB" sz="1200" b="1">
                <a:solidFill>
                  <a:sysClr val="windowText" lastClr="000000"/>
                </a:solidFill>
              </a:rPr>
              <a:t>Device</a:t>
            </a:r>
            <a:r>
              <a:rPr lang="en-GB" sz="1200" b="1" baseline="0">
                <a:solidFill>
                  <a:sysClr val="windowText" lastClr="000000"/>
                </a:solidFill>
              </a:rPr>
              <a:t> Type by Latency and Slice Bandwidth</a:t>
            </a:r>
            <a:endParaRPr lang="en-GB" sz="12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9DC3E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Table'!$BQ$33</c:f>
              <c:strCache>
                <c:ptCount val="1"/>
                <c:pt idx="0">
                  <c:v>Avg of Latency(ms)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Table'!$BP$34:$BP$36</c:f>
              <c:strCache>
                <c:ptCount val="2"/>
                <c:pt idx="0">
                  <c:v>Desktop</c:v>
                </c:pt>
                <c:pt idx="1">
                  <c:v>Mobile</c:v>
                </c:pt>
              </c:strCache>
            </c:strRef>
          </c:cat>
          <c:val>
            <c:numRef>
              <c:f>'Pivot Table'!$BQ$34:$BQ$36</c:f>
              <c:numCache>
                <c:formatCode>0</c:formatCode>
                <c:ptCount val="2"/>
                <c:pt idx="0">
                  <c:v>76.539123904881095</c:v>
                </c:pt>
                <c:pt idx="1">
                  <c:v>76.953657927590513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8-4D46-88DC-469684F990E9}"/>
            </c:ext>
          </c:extLst>
        </c:ser>
        <c:ser>
          <c:idx val="1"/>
          <c:order val="1"/>
          <c:tx>
            <c:strRef>
              <c:f>'Pivot Table'!$BR$33</c:f>
              <c:strCache>
                <c:ptCount val="1"/>
                <c:pt idx="0">
                  <c:v>AvgSlice Bandwidth(Mbps)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Table'!$BP$34:$BP$36</c:f>
              <c:strCache>
                <c:ptCount val="2"/>
                <c:pt idx="0">
                  <c:v>Desktop</c:v>
                </c:pt>
                <c:pt idx="1">
                  <c:v>Mobile</c:v>
                </c:pt>
              </c:strCache>
            </c:strRef>
          </c:cat>
          <c:val>
            <c:numRef>
              <c:f>'Pivot Table'!$BR$34:$BR$36</c:f>
              <c:numCache>
                <c:formatCode>0</c:formatCode>
                <c:ptCount val="2"/>
                <c:pt idx="0">
                  <c:v>1524.3813266583229</c:v>
                </c:pt>
                <c:pt idx="1">
                  <c:v>1531.4201248439451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38-4D46-88DC-469684F990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7437248"/>
        <c:axId val="417440848"/>
      </c:barChart>
      <c:catAx>
        <c:axId val="417437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417440848"/>
        <c:crosses val="autoZero"/>
        <c:auto val="1"/>
        <c:lblAlgn val="ctr"/>
        <c:lblOffset val="100"/>
        <c:noMultiLvlLbl val="0"/>
      </c:catAx>
      <c:valAx>
        <c:axId val="41744084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41743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D3016-E239-4341-8A12-A455EBDFC0CF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AA8CE-D0DE-4413-9791-384D19DB15C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2764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A8CE-D0DE-4413-9791-384D19DB15C8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9795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28BA-365F-DD1A-E2EC-AFBEC9D6E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1EBD6-82BE-0572-2C5E-F3E8A3D43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8CCD6-7AF5-DB0B-FE35-D9A231DE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65725-302E-753B-33C7-E577132D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15BB9-AF0A-C1AE-47CC-5D28C8163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02662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2E9B-B594-023E-7283-83C92D1D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7A392-8893-E45D-676B-DB63B40C0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CCDA-9C37-12E5-AE3A-4D7EE251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502CF-2F43-55BB-C08C-6D2532FC2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4F0BC-54D6-0752-307B-62CFB4FC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6714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8DBF-7F88-C12D-6C78-19126F98A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0C54F-2BA9-6BCB-A6EC-75DF52C04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EF3BD-87B9-982B-F81D-663C639A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5BDA5-C4B9-FD91-530F-EEB6956F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8A5B8-E09E-FB6E-3CB7-082ECFA1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5873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2F23-677C-62CE-87D3-8FB8A19C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B5A35-ADFD-E490-4F9A-811C2F639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56BDE-B66B-D43C-E9B6-01A62A200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E1A92-A0E3-5497-B991-A27018E1D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7F296-5FEA-2EA8-AF8D-9EB24E44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BA799-B071-C6BC-4187-174E5792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3941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C049-436B-58AB-5925-DC3E3CB4E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16074-2B9F-177E-30ED-280B068A1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909CB-653B-0AAB-D091-A0BBA205F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EB24E-C42A-AE4D-3DBA-F9415B762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12B71-1EC2-5D20-742F-185E28FBF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30691-307A-9AB1-4FE4-5FE2B293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2FCFB-7C2A-12E3-FF62-24E80032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FD7F29-4FD3-A8A2-1847-29D26B3D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6030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5B98-C0F6-9F2A-52FA-CF3D83C4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E81A3-5FD4-EA8C-9EF3-DEAA3845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18A7F-3B7F-4048-4B9D-7260CAA8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AAB88-A01D-D5AC-F68D-BC844525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7395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5DBB4-EA72-AE2B-230E-03BDABC6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9ADBBE-344B-1FD0-8087-147AC701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3FA34-0B2C-32C9-8A66-F626E731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53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B3BB-2BD8-FEE0-8AF8-E6A4E9B1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5C7B-EA6F-30C3-E04F-4C4E0D5CD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DCC54-A8DF-CA16-BEF3-D3659D830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00FBA-72CB-C867-EF48-BC717B67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274F3-0829-1177-6049-0E37770C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EDA19-97F7-6216-DF5F-00082173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9293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5B7A-2697-433D-7124-E308AFC55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4BE0F-AE35-95CE-AA7D-2B8D864F9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92CC2-4A50-E829-B2FC-74F69BFE8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37E22-BE8B-BEAE-DFB2-F4F57410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30D44-A499-F712-DBD6-D0052B2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5B241-2B87-3235-9C01-42BBA9DD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516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17FC-D7D9-78FA-826C-AF257998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ACA0A-674F-4B76-AD4B-3E78C68E2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E6C0E-FF00-E8B1-D573-397C5DC8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696E6-498A-EA23-E66E-4A7DF3F9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B3638-771A-14B7-4D4B-C6503699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6862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82503-F141-984F-2F4D-6974CFB7C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93E30-D864-DFA3-E975-737F55CB0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9DA4F-58D7-EE8C-4A53-B5656C30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301FD-1363-9C76-7820-7F0D7858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039AB-5217-BE89-E7C6-8303DBF4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161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  <a:lumOff val="5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D8F08-6E9E-E8D8-3F26-094BE0C4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DA591-D8FF-2AB6-D309-FFCDF51A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B9F47-47FE-402B-3805-1F6F18A00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11061-3E76-4A77-9284-F16FA906EB28}" type="datetimeFigureOut">
              <a:rPr lang="en-NG" smtClean="0"/>
              <a:t>28/11/2025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6D994-AB4F-EDED-7767-0F580125B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8CADD-E5AF-4BF6-AB62-5F415691B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2BAFB-AE39-42ED-B424-AD070E287CD4}" type="slidenum">
              <a:rPr lang="en-NG" smtClean="0"/>
              <a:t>‹#›</a:t>
            </a:fld>
            <a:endParaRPr lang="en-NG"/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99BD8F0E-2EDC-4B9F-374A-AAE176753820}"/>
              </a:ext>
            </a:extLst>
          </p:cNvPr>
          <p:cNvSpPr/>
          <p:nvPr userDrawn="1"/>
        </p:nvSpPr>
        <p:spPr>
          <a:xfrm>
            <a:off x="0" y="0"/>
            <a:ext cx="838200" cy="1325563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D9E28018-AE96-24C8-0079-85CA7FA32D2B}"/>
              </a:ext>
            </a:extLst>
          </p:cNvPr>
          <p:cNvSpPr/>
          <p:nvPr userDrawn="1"/>
        </p:nvSpPr>
        <p:spPr>
          <a:xfrm flipV="1">
            <a:off x="15768" y="5514181"/>
            <a:ext cx="838200" cy="1325563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895B5951-31A7-89A7-52A2-2FA456FD66A3}"/>
              </a:ext>
            </a:extLst>
          </p:cNvPr>
          <p:cNvSpPr/>
          <p:nvPr userDrawn="1"/>
        </p:nvSpPr>
        <p:spPr>
          <a:xfrm flipH="1">
            <a:off x="11353800" y="0"/>
            <a:ext cx="838200" cy="1325563"/>
          </a:xfrm>
          <a:prstGeom prst="halfFrame">
            <a:avLst>
              <a:gd name="adj1" fmla="val 35841"/>
              <a:gd name="adj2" fmla="val 333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D42A9859-B4D6-ABC1-CC86-DCF2C7B4C76D}"/>
              </a:ext>
            </a:extLst>
          </p:cNvPr>
          <p:cNvSpPr/>
          <p:nvPr userDrawn="1"/>
        </p:nvSpPr>
        <p:spPr>
          <a:xfrm rot="10800000">
            <a:off x="11338032" y="5514181"/>
            <a:ext cx="838200" cy="1325563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55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95E7-F894-80ED-8C36-0BE221DE5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b="1" dirty="0"/>
              <a:t>BLUEBRIGDE DIGITAL BANKING PERFORMANCE ANALYTICS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24612-E1D4-8681-0975-820D23916D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PRESENTED BY: VICTORIA ADEMIJUBE</a:t>
            </a:r>
            <a:endParaRPr lang="en-NG" b="1" dirty="0"/>
          </a:p>
        </p:txBody>
      </p:sp>
    </p:spTree>
    <p:extLst>
      <p:ext uri="{BB962C8B-B14F-4D97-AF65-F5344CB8AC3E}">
        <p14:creationId xmlns:p14="http://schemas.microsoft.com/office/powerpoint/2010/main" val="39730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80E3A-F476-9BA3-91D6-565403A3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55FBC-924E-FFB1-6016-ED0CA7DDA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Customers are complaining of failed transactions despites having sufficient funds.</a:t>
            </a:r>
          </a:p>
          <a:p>
            <a:r>
              <a:rPr lang="en-GB" dirty="0"/>
              <a:t>Flagged transactions are being processed instead of being blocked.</a:t>
            </a:r>
          </a:p>
          <a:p>
            <a:r>
              <a:rPr lang="en-GB" dirty="0"/>
              <a:t>The management wants to know if the 5G network slicing is delivering expected performance benefits.</a:t>
            </a:r>
          </a:p>
          <a:p>
            <a:r>
              <a:rPr lang="en-GB" dirty="0"/>
              <a:t>The management has to choose from mobile app and desktop portal for the next quarter, due to limited budget.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306956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51C6-6F1E-B5D9-60C8-D7176C25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0A289-E592-0363-2689-EABE973DC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Identify the root cause of declining transaction approval rates.</a:t>
            </a:r>
          </a:p>
          <a:p>
            <a:r>
              <a:rPr lang="en-GB" dirty="0"/>
              <a:t>Compare the number of flagged transactions to blocked transactions.</a:t>
            </a:r>
          </a:p>
          <a:p>
            <a:r>
              <a:rPr lang="en-GB" dirty="0"/>
              <a:t>Determine whether premium network slices outperform the standard slice.</a:t>
            </a:r>
          </a:p>
          <a:p>
            <a:r>
              <a:rPr lang="en-GB" dirty="0"/>
              <a:t>Evaluate the success and failure rates of mobile app and desktop portal.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2444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4B39-A0A2-E591-66CE-03764FD3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Dataset Overview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5C4F0-7DFD-456D-7355-6DB1D45CD8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Data Source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Transaction Dataset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40000 rows  and 14 columns</a:t>
            </a:r>
          </a:p>
          <a:p>
            <a:pPr>
              <a:spcAft>
                <a:spcPts val="600"/>
              </a:spcAft>
            </a:pP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NG" dirty="0"/>
          </a:p>
          <a:p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907D3-C189-F0D8-E21C-6844F637E7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Data cleaning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rows with errors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duplicates  rows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missing values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No data inconsistencies</a:t>
            </a:r>
          </a:p>
          <a:p>
            <a:endParaRPr lang="en-NG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61519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1E16-DF61-5CB6-9258-B150FBDD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Methodology</a:t>
            </a:r>
            <a:endParaRPr lang="en-NG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BEDBF-A993-E5CB-468E-AFAAC9C374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139700" indent="0">
              <a:spcAft>
                <a:spcPts val="60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Tools &amp; Techniques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Microsoft Excel (Pivot Tables, Pivot Charts, Slicers).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Data cleaning and transformation in Excel.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Dashboard layout and visualization best practices.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 Basic descriptive analytics and KPI design.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9F53AB-49A2-9EC6-6E50-8DB5F1151E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Columns such as Latency, Slice bandwidth, and Hour of the day were grouped.</a:t>
            </a:r>
          </a:p>
          <a:p>
            <a:r>
              <a:rPr lang="en-GB" dirty="0"/>
              <a:t>Failure rate was calculated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14167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A8A4-642B-E4A6-A75E-B3BF02BA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Insight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A80D-4EDA-510B-4785-7306669F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Total transactions : 40000</a:t>
            </a:r>
          </a:p>
          <a:p>
            <a:r>
              <a:rPr lang="en-GB" dirty="0"/>
              <a:t>Total senders : 32269</a:t>
            </a:r>
          </a:p>
          <a:p>
            <a:r>
              <a:rPr lang="en-GB" dirty="0"/>
              <a:t>Total receivers : 32230</a:t>
            </a:r>
          </a:p>
          <a:p>
            <a:r>
              <a:rPr lang="en-GB" dirty="0"/>
              <a:t>Average failure rate: 19.9%</a:t>
            </a:r>
          </a:p>
          <a:p>
            <a:r>
              <a:rPr lang="en-GB" dirty="0"/>
              <a:t>7969 (20%) transactions were not successful.</a:t>
            </a:r>
          </a:p>
          <a:p>
            <a:r>
              <a:rPr lang="en-GB" dirty="0"/>
              <a:t>2041 (5%) transactions were flagged as fraud.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59241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364E-E5F9-6C1B-F16D-4200C7A0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4DA3-3910-546A-7B86-77656F122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829" y="1382486"/>
            <a:ext cx="5834742" cy="4794477"/>
          </a:xfrm>
        </p:spPr>
        <p:txBody>
          <a:bodyPr/>
          <a:lstStyle/>
          <a:p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3F7A0-C5D1-B87F-3663-DDDA387F7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31428" y="1382486"/>
            <a:ext cx="4822371" cy="4794477"/>
          </a:xfrm>
        </p:spPr>
        <p:txBody>
          <a:bodyPr/>
          <a:lstStyle/>
          <a:p>
            <a:r>
              <a:rPr lang="en-GB" dirty="0"/>
              <a:t>1644 flagged transactions were successful while 7572 transaction were not flagged but failed.</a:t>
            </a:r>
          </a:p>
          <a:p>
            <a:r>
              <a:rPr lang="en-GB" dirty="0"/>
              <a:t>The failure counts follow the same pattern at different time of the day.</a:t>
            </a:r>
          </a:p>
          <a:p>
            <a:r>
              <a:rPr lang="en-GB" dirty="0"/>
              <a:t>Average failure rate is consistently around 19.1%-20.5% daily.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75FF81-91EF-476C-8801-F8BD719ADF06}"/>
              </a:ext>
            </a:extLst>
          </p:cNvPr>
          <p:cNvSpPr/>
          <p:nvPr/>
        </p:nvSpPr>
        <p:spPr>
          <a:xfrm>
            <a:off x="587829" y="1382486"/>
            <a:ext cx="2526535" cy="2679127"/>
          </a:xfrm>
          <a:prstGeom prst="roundRect">
            <a:avLst/>
          </a:prstGeom>
          <a:solidFill>
            <a:sysClr val="window" lastClr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NG" sz="1100">
              <a:solidFill>
                <a:sysClr val="windowText" lastClr="000000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B10B6F2-F635-4631-963F-AB5DEF6FA9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7034698"/>
              </p:ext>
            </p:extLst>
          </p:nvPr>
        </p:nvGraphicFramePr>
        <p:xfrm>
          <a:off x="680117" y="1480781"/>
          <a:ext cx="2341957" cy="2493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523392-5E57-4EAA-A940-FB9AC2C4DC05}"/>
              </a:ext>
            </a:extLst>
          </p:cNvPr>
          <p:cNvSpPr/>
          <p:nvPr/>
        </p:nvSpPr>
        <p:spPr>
          <a:xfrm>
            <a:off x="992187" y="4181864"/>
            <a:ext cx="4810123" cy="1912386"/>
          </a:xfrm>
          <a:prstGeom prst="roundRect">
            <a:avLst/>
          </a:prstGeom>
          <a:solidFill>
            <a:sysClr val="window" lastClr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NG" sz="110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3788923-4A85-4107-883D-D1D4303024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5625232"/>
              </p:ext>
            </p:extLst>
          </p:nvPr>
        </p:nvGraphicFramePr>
        <p:xfrm>
          <a:off x="989012" y="4212026"/>
          <a:ext cx="4792048" cy="1814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CC5C36-C6F0-4014-98CF-8889C9328CA9}"/>
              </a:ext>
            </a:extLst>
          </p:cNvPr>
          <p:cNvSpPr/>
          <p:nvPr/>
        </p:nvSpPr>
        <p:spPr>
          <a:xfrm>
            <a:off x="3180157" y="1387332"/>
            <a:ext cx="3255923" cy="2659595"/>
          </a:xfrm>
          <a:prstGeom prst="roundRect">
            <a:avLst/>
          </a:prstGeom>
          <a:solidFill>
            <a:sysClr val="window" lastClr="FF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NG" sz="110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C725162-AA9D-4987-9EB7-A831B4F298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885242"/>
              </p:ext>
            </p:extLst>
          </p:nvPr>
        </p:nvGraphicFramePr>
        <p:xfrm>
          <a:off x="3333298" y="1480781"/>
          <a:ext cx="3089273" cy="2484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1014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7E8A-402A-F9F7-C34C-5F948823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0904"/>
          </a:xfrm>
        </p:spPr>
        <p:txBody>
          <a:bodyPr/>
          <a:lstStyle/>
          <a:p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8201-3FCA-27E3-4BD7-608FF7845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43744"/>
            <a:ext cx="6368143" cy="5050970"/>
          </a:xfrm>
        </p:spPr>
        <p:txBody>
          <a:bodyPr/>
          <a:lstStyle/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42112-1964-3F89-E1EE-6E0288DBA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5864" y="1643742"/>
            <a:ext cx="3817936" cy="5050970"/>
          </a:xfrm>
        </p:spPr>
        <p:txBody>
          <a:bodyPr/>
          <a:lstStyle/>
          <a:p>
            <a:r>
              <a:rPr lang="en-GB" dirty="0"/>
              <a:t>The 3 network slices have similar latency.</a:t>
            </a:r>
          </a:p>
          <a:p>
            <a:r>
              <a:rPr lang="en-GB" dirty="0"/>
              <a:t>This means that the premium investment does noy have any impact on the network speed.</a:t>
            </a:r>
          </a:p>
          <a:p>
            <a:r>
              <a:rPr lang="en-GB" dirty="0"/>
              <a:t>The count of failed transactions across low, moderate and high latency and bandwidth are almost uniform.</a:t>
            </a:r>
            <a:endParaRPr lang="en-N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D1AEBE-4F9C-4E7D-863C-82230D2F5E8F}"/>
              </a:ext>
            </a:extLst>
          </p:cNvPr>
          <p:cNvSpPr/>
          <p:nvPr/>
        </p:nvSpPr>
        <p:spPr>
          <a:xfrm>
            <a:off x="940479" y="1690922"/>
            <a:ext cx="3751264" cy="2042879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G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352FD7-4C21-45FB-B919-68F64854F84D}"/>
              </a:ext>
            </a:extLst>
          </p:cNvPr>
          <p:cNvSpPr/>
          <p:nvPr/>
        </p:nvSpPr>
        <p:spPr>
          <a:xfrm>
            <a:off x="892629" y="3747057"/>
            <a:ext cx="3160884" cy="2947655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G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087E14-51AC-4C66-BAF4-1E0A2518EC75}"/>
              </a:ext>
            </a:extLst>
          </p:cNvPr>
          <p:cNvSpPr/>
          <p:nvPr/>
        </p:nvSpPr>
        <p:spPr>
          <a:xfrm>
            <a:off x="4087589" y="3765012"/>
            <a:ext cx="3129552" cy="291549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G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65779B0-DAEC-4B3F-A82C-908BDD26F5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3625473"/>
              </p:ext>
            </p:extLst>
          </p:nvPr>
        </p:nvGraphicFramePr>
        <p:xfrm>
          <a:off x="956129" y="3818189"/>
          <a:ext cx="3028042" cy="2805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4D4F208-1152-4AF5-BF0D-3C9C78AB6C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5051220"/>
              </p:ext>
            </p:extLst>
          </p:nvPr>
        </p:nvGraphicFramePr>
        <p:xfrm>
          <a:off x="4220034" y="3803596"/>
          <a:ext cx="2986308" cy="2820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7DAFEE6-672D-42F4-A84C-6DBB8C1A8F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2163117"/>
              </p:ext>
            </p:extLst>
          </p:nvPr>
        </p:nvGraphicFramePr>
        <p:xfrm>
          <a:off x="1066800" y="1747753"/>
          <a:ext cx="3429000" cy="2001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960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E8D4-E62D-EA8A-4E22-33578067D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Insight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1D4D6-255D-B661-DC7C-2E79800C0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21113"/>
            <a:ext cx="4245429" cy="5317144"/>
          </a:xfrm>
        </p:spPr>
        <p:txBody>
          <a:bodyPr/>
          <a:lstStyle/>
          <a:p>
            <a:pPr marL="0" indent="0">
              <a:buNone/>
            </a:pPr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75ED4-54A5-11E2-3313-0F3B7825C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8686" y="1421112"/>
            <a:ext cx="6085114" cy="5281523"/>
          </a:xfrm>
        </p:spPr>
        <p:txBody>
          <a:bodyPr/>
          <a:lstStyle/>
          <a:p>
            <a:r>
              <a:rPr lang="en-GB" dirty="0"/>
              <a:t>Failure occurs at the same rate across device types.</a:t>
            </a:r>
          </a:p>
          <a:p>
            <a:r>
              <a:rPr lang="en-GB" dirty="0"/>
              <a:t>Both desktop portal and mobile app have similar average latency and slice bandwidth.</a:t>
            </a:r>
          </a:p>
          <a:p>
            <a:r>
              <a:rPr lang="en-GB" dirty="0"/>
              <a:t>All these suggests that failed transactions is not significantly affected by the day, time of the day, device type, latency and network slice.</a:t>
            </a:r>
          </a:p>
          <a:p>
            <a:r>
              <a:rPr lang="en-GB" dirty="0"/>
              <a:t>This could be a systemic error.</a:t>
            </a:r>
            <a:endParaRPr lang="en-N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D9D7C9-5188-4C32-87EA-174534F7CEA4}"/>
              </a:ext>
            </a:extLst>
          </p:cNvPr>
          <p:cNvSpPr/>
          <p:nvPr/>
        </p:nvSpPr>
        <p:spPr>
          <a:xfrm>
            <a:off x="838201" y="1456294"/>
            <a:ext cx="3810681" cy="267475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G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3885BA5-FE41-458B-B010-AF78780F2A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923294"/>
              </p:ext>
            </p:extLst>
          </p:nvPr>
        </p:nvGraphicFramePr>
        <p:xfrm>
          <a:off x="838200" y="1458959"/>
          <a:ext cx="3711959" cy="2637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E53A9D-BB48-4153-9D3C-99E7096A7CD9}"/>
              </a:ext>
            </a:extLst>
          </p:cNvPr>
          <p:cNvSpPr/>
          <p:nvPr/>
        </p:nvSpPr>
        <p:spPr>
          <a:xfrm>
            <a:off x="927553" y="4164822"/>
            <a:ext cx="3619332" cy="250492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G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CEE257A-4F29-4D2B-B881-D59D4EBF29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0737415"/>
              </p:ext>
            </p:extLst>
          </p:nvPr>
        </p:nvGraphicFramePr>
        <p:xfrm>
          <a:off x="935491" y="4224166"/>
          <a:ext cx="3582081" cy="2425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7182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48A3D9-3B76-7D9B-FE58-5392BC41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NG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E8A51E-95A8-82B0-E0F6-57480E857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Stakeholders should get more data on banking transactions.</a:t>
            </a:r>
          </a:p>
          <a:p>
            <a:r>
              <a:rPr lang="en-GB" dirty="0"/>
              <a:t>Software developer should be contacted to improve banking online platform.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551509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304A-B710-B3B6-6C32-FB659CBD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61504"/>
          </a:xfrm>
        </p:spPr>
        <p:txBody>
          <a:bodyPr>
            <a:normAutofit/>
          </a:bodyPr>
          <a:lstStyle/>
          <a:p>
            <a:r>
              <a:rPr lang="en-GB" sz="9600" dirty="0"/>
              <a:t>THANK YOU</a:t>
            </a:r>
            <a:endParaRPr lang="en-NG" sz="9600" dirty="0"/>
          </a:p>
        </p:txBody>
      </p:sp>
    </p:spTree>
    <p:extLst>
      <p:ext uri="{BB962C8B-B14F-4D97-AF65-F5344CB8AC3E}">
        <p14:creationId xmlns:p14="http://schemas.microsoft.com/office/powerpoint/2010/main" val="365468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002060"/>
      </a:accent2>
      <a:accent3>
        <a:srgbClr val="002060"/>
      </a:accent3>
      <a:accent4>
        <a:srgbClr val="002060"/>
      </a:accent4>
      <a:accent5>
        <a:srgbClr val="002060"/>
      </a:accent5>
      <a:accent6>
        <a:srgbClr val="002060"/>
      </a:accent6>
      <a:hlink>
        <a:srgbClr val="002060"/>
      </a:hlink>
      <a:folHlink>
        <a:srgbClr val="00206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453</Words>
  <Application>Microsoft Office PowerPoint</Application>
  <PresentationFormat>Widescreen</PresentationFormat>
  <Paragraphs>70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BLUEBRIGDE DIGITAL BANKING PERFORMANCE ANALYTICS</vt:lpstr>
      <vt:lpstr>Problem Statement</vt:lpstr>
      <vt:lpstr>Objective</vt:lpstr>
      <vt:lpstr>Dataset Overview</vt:lpstr>
      <vt:lpstr>Methodology</vt:lpstr>
      <vt:lpstr>Data Insight</vt:lpstr>
      <vt:lpstr>Data Insight</vt:lpstr>
      <vt:lpstr>Data Insight</vt:lpstr>
      <vt:lpstr>Data Insight</vt:lpstr>
      <vt:lpstr>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Ademijube</dc:creator>
  <cp:lastModifiedBy>Victoria Ademijube</cp:lastModifiedBy>
  <cp:revision>10</cp:revision>
  <dcterms:created xsi:type="dcterms:W3CDTF">2025-11-28T21:31:46Z</dcterms:created>
  <dcterms:modified xsi:type="dcterms:W3CDTF">2025-11-28T23:09:10Z</dcterms:modified>
</cp:coreProperties>
</file>